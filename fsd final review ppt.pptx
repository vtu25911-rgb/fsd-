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73" r:id="rId11"/>
    <p:sldId id="266" r:id="rId12"/>
    <p:sldId id="269" r:id="rId13"/>
    <p:sldId id="268" r:id="rId14"/>
    <p:sldId id="271" r:id="rId15"/>
    <p:sldId id="270" r:id="rId16"/>
    <p:sldId id="265" r:id="rId17"/>
  </p:sldIdLst>
  <p:sldSz cx="18288000" cy="10287000"/>
  <p:notesSz cx="6858000" cy="9144000"/>
  <p:embeddedFontLst>
    <p:embeddedFont>
      <p:font typeface="Bookman Old Style" panose="02050604050505020204" pitchFamily="18" charset="0"/>
      <p:regular r:id="rId19"/>
      <p:bold r:id="rId20"/>
      <p:italic r:id="rId21"/>
      <p:boldItalic r:id="rId22"/>
    </p:embeddedFont>
    <p:embeddedFont>
      <p:font typeface="Cambria" panose="02040503050406030204" pitchFamily="18" charset="0"/>
      <p:regular r:id="rId23"/>
      <p:bold r:id="rId24"/>
      <p:italic r:id="rId25"/>
      <p:boldItalic r:id="rId26"/>
    </p:embeddedFont>
    <p:embeddedFont>
      <p:font typeface="Gotham" panose="020B0604020202020204" charset="0"/>
      <p:regular r:id="rId27"/>
    </p:embeddedFont>
    <p:embeddedFont>
      <p:font typeface="Gotham Bold Italics"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4622" autoAdjust="0"/>
  </p:normalViewPr>
  <p:slideViewPr>
    <p:cSldViewPr>
      <p:cViewPr varScale="1">
        <p:scale>
          <a:sx n="54" d="100"/>
          <a:sy n="54" d="100"/>
        </p:scale>
        <p:origin x="10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da srinivas" userId="35467c9794504fde" providerId="LiveId" clId="{42D43064-9BD3-49C1-8278-4DE96FEAE68D}"/>
    <pc:docChg chg="custSel delSld modSld">
      <pc:chgData name="nanda srinivas" userId="35467c9794504fde" providerId="LiveId" clId="{42D43064-9BD3-49C1-8278-4DE96FEAE68D}" dt="2026-05-06T04:24:15.476" v="17" actId="1076"/>
      <pc:docMkLst>
        <pc:docMk/>
      </pc:docMkLst>
      <pc:sldChg chg="delSp mod">
        <pc:chgData name="nanda srinivas" userId="35467c9794504fde" providerId="LiveId" clId="{42D43064-9BD3-49C1-8278-4DE96FEAE68D}" dt="2026-05-06T04:21:57.910" v="4" actId="478"/>
        <pc:sldMkLst>
          <pc:docMk/>
          <pc:sldMk cId="1998101144" sldId="266"/>
        </pc:sldMkLst>
        <pc:picChg chg="del">
          <ac:chgData name="nanda srinivas" userId="35467c9794504fde" providerId="LiveId" clId="{42D43064-9BD3-49C1-8278-4DE96FEAE68D}" dt="2026-05-06T04:21:57.910" v="4" actId="478"/>
          <ac:picMkLst>
            <pc:docMk/>
            <pc:sldMk cId="1998101144" sldId="266"/>
            <ac:picMk id="5" creationId="{22956222-E54F-0961-8D3D-DFCEE8E5B903}"/>
          </ac:picMkLst>
        </pc:picChg>
      </pc:sldChg>
      <pc:sldChg chg="addSp delSp modSp del mod">
        <pc:chgData name="nanda srinivas" userId="35467c9794504fde" providerId="LiveId" clId="{42D43064-9BD3-49C1-8278-4DE96FEAE68D}" dt="2026-05-06T04:22:50.910" v="9" actId="47"/>
        <pc:sldMkLst>
          <pc:docMk/>
          <pc:sldMk cId="47544820" sldId="267"/>
        </pc:sldMkLst>
        <pc:picChg chg="add mod">
          <ac:chgData name="nanda srinivas" userId="35467c9794504fde" providerId="LiveId" clId="{42D43064-9BD3-49C1-8278-4DE96FEAE68D}" dt="2026-05-06T04:22:29.131" v="8" actId="1076"/>
          <ac:picMkLst>
            <pc:docMk/>
            <pc:sldMk cId="47544820" sldId="267"/>
            <ac:picMk id="3" creationId="{961CD24B-3C7E-90A3-BAAB-0234EC0ADE78}"/>
          </ac:picMkLst>
        </pc:picChg>
        <pc:picChg chg="del">
          <ac:chgData name="nanda srinivas" userId="35467c9794504fde" providerId="LiveId" clId="{42D43064-9BD3-49C1-8278-4DE96FEAE68D}" dt="2026-05-06T04:22:14.830" v="5" actId="478"/>
          <ac:picMkLst>
            <pc:docMk/>
            <pc:sldMk cId="47544820" sldId="267"/>
            <ac:picMk id="5" creationId="{F9A4964A-177C-783A-A615-8FCFBB128F2A}"/>
          </ac:picMkLst>
        </pc:picChg>
      </pc:sldChg>
      <pc:sldChg chg="addSp delSp modSp mod">
        <pc:chgData name="nanda srinivas" userId="35467c9794504fde" providerId="LiveId" clId="{42D43064-9BD3-49C1-8278-4DE96FEAE68D}" dt="2026-05-06T04:24:15.476" v="17" actId="1076"/>
        <pc:sldMkLst>
          <pc:docMk/>
          <pc:sldMk cId="84889951" sldId="268"/>
        </pc:sldMkLst>
        <pc:picChg chg="del">
          <ac:chgData name="nanda srinivas" userId="35467c9794504fde" providerId="LiveId" clId="{42D43064-9BD3-49C1-8278-4DE96FEAE68D}" dt="2026-05-06T04:22:54.692" v="10" actId="478"/>
          <ac:picMkLst>
            <pc:docMk/>
            <pc:sldMk cId="84889951" sldId="268"/>
            <ac:picMk id="3" creationId="{FB3780C6-3B06-F79B-CED3-575737048707}"/>
          </ac:picMkLst>
        </pc:picChg>
        <pc:picChg chg="add mod">
          <ac:chgData name="nanda srinivas" userId="35467c9794504fde" providerId="LiveId" clId="{42D43064-9BD3-49C1-8278-4DE96FEAE68D}" dt="2026-05-06T04:24:15.476" v="17" actId="1076"/>
          <ac:picMkLst>
            <pc:docMk/>
            <pc:sldMk cId="84889951" sldId="268"/>
            <ac:picMk id="5" creationId="{475B6582-82F7-6A8E-9FC7-9AC1B23C5CB4}"/>
          </ac:picMkLst>
        </pc:picChg>
      </pc:sldChg>
      <pc:sldChg chg="del">
        <pc:chgData name="nanda srinivas" userId="35467c9794504fde" providerId="LiveId" clId="{42D43064-9BD3-49C1-8278-4DE96FEAE68D}" dt="2026-05-06T04:23:28.354" v="12" actId="47"/>
        <pc:sldMkLst>
          <pc:docMk/>
          <pc:sldMk cId="2204806001" sldId="272"/>
        </pc:sldMkLst>
      </pc:sldChg>
      <pc:sldChg chg="addSp modSp mod">
        <pc:chgData name="nanda srinivas" userId="35467c9794504fde" providerId="LiveId" clId="{42D43064-9BD3-49C1-8278-4DE96FEAE68D}" dt="2026-05-06T04:21:40.155" v="3" actId="1076"/>
        <pc:sldMkLst>
          <pc:docMk/>
          <pc:sldMk cId="2009702107" sldId="273"/>
        </pc:sldMkLst>
        <pc:picChg chg="add mod">
          <ac:chgData name="nanda srinivas" userId="35467c9794504fde" providerId="LiveId" clId="{42D43064-9BD3-49C1-8278-4DE96FEAE68D}" dt="2026-05-06T04:21:40.155" v="3" actId="1076"/>
          <ac:picMkLst>
            <pc:docMk/>
            <pc:sldMk cId="2009702107" sldId="273"/>
            <ac:picMk id="3" creationId="{8350635A-95CA-41CB-CA2B-3ABD80D0923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5F43B3-F8A5-414A-ABF9-992F26EB4DCE}" type="datetimeFigureOut">
              <a:rPr lang="en-IN" smtClean="0"/>
              <a:t>06-05-2026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3C349-0F1B-4D3C-BE25-C851394709AB}" type="slidenum">
              <a:rPr lang="en-IN" smtClean="0"/>
              <a:t>‹#›</a:t>
            </a:fld>
            <a:endParaRPr lang="en-IN"/>
          </a:p>
        </p:txBody>
      </p:sp>
    </p:spTree>
    <p:extLst>
      <p:ext uri="{BB962C8B-B14F-4D97-AF65-F5344CB8AC3E}">
        <p14:creationId xmlns:p14="http://schemas.microsoft.com/office/powerpoint/2010/main" val="798919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9D3C349-0F1B-4D3C-BE25-C851394709AB}" type="slidenum">
              <a:rPr lang="en-IN" smtClean="0"/>
              <a:t>1</a:t>
            </a:fld>
            <a:endParaRPr lang="en-IN"/>
          </a:p>
        </p:txBody>
      </p:sp>
    </p:spTree>
    <p:extLst>
      <p:ext uri="{BB962C8B-B14F-4D97-AF65-F5344CB8AC3E}">
        <p14:creationId xmlns:p14="http://schemas.microsoft.com/office/powerpoint/2010/main" val="2971075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9D3C349-0F1B-4D3C-BE25-C851394709AB}" type="slidenum">
              <a:rPr lang="en-IN" smtClean="0"/>
              <a:t>5</a:t>
            </a:fld>
            <a:endParaRPr lang="en-IN"/>
          </a:p>
        </p:txBody>
      </p:sp>
    </p:spTree>
    <p:extLst>
      <p:ext uri="{BB962C8B-B14F-4D97-AF65-F5344CB8AC3E}">
        <p14:creationId xmlns:p14="http://schemas.microsoft.com/office/powerpoint/2010/main" val="3084128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3"/>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446550"/>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SEMISTER PROJECT REVIEW</a:t>
            </a:r>
          </a:p>
          <a:p>
            <a:pPr algn="ctr"/>
            <a:endParaRPr lang="en-IN" sz="1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430820" y="5446853"/>
            <a:ext cx="15784162" cy="646331"/>
          </a:xfrm>
          <a:prstGeom prst="rect">
            <a:avLst/>
          </a:prstGeom>
          <a:noFill/>
        </p:spPr>
        <p:txBody>
          <a:bodyPr wrap="square" rtlCol="0">
            <a:spAutoFit/>
          </a:bodyPr>
          <a:lstStyle/>
          <a:p>
            <a:pPr algn="ctr"/>
            <a:r>
              <a:rPr lang="en-US" sz="3600" b="1" dirty="0">
                <a:solidFill>
                  <a:srgbClr val="0033CC"/>
                </a:solidFill>
                <a:latin typeface="Times New Roman" panose="02020603050405020304" pitchFamily="18" charset="0"/>
                <a:cs typeface="Times New Roman" panose="02020603050405020304" pitchFamily="18" charset="0"/>
              </a:rPr>
              <a:t> </a:t>
            </a:r>
            <a:r>
              <a:rPr lang="en-IN" sz="3600" b="1" dirty="0">
                <a:solidFill>
                  <a:srgbClr val="0070C0"/>
                </a:solidFill>
              </a:rPr>
              <a:t>Job Portal Management System</a:t>
            </a:r>
            <a:endParaRPr lang="en-IN" sz="3600" b="1" dirty="0">
              <a:solidFill>
                <a:srgbClr val="0070C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353235" y="7874114"/>
            <a:ext cx="10591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V Nanda Srinivas– VTU25911– Reg.No:23UECS0612</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47191"/>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3200" dirty="0"/>
              <a:t>Dr. Hafizur Rahman</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6313001" y="6239898"/>
            <a:ext cx="6019800" cy="461665"/>
          </a:xfrm>
          <a:prstGeom prst="rect">
            <a:avLst/>
          </a:prstGeom>
          <a:noFill/>
        </p:spPr>
        <p:txBody>
          <a:bodyPr wrap="square" rtlCol="0">
            <a:spAutoFit/>
          </a:bodyPr>
          <a:lstStyle/>
          <a:p>
            <a:r>
              <a:rPr lang="en-US" sz="2400" b="1" dirty="0">
                <a:latin typeface="Times New Roman" panose="02020603050405020304" pitchFamily="18" charset="0"/>
                <a:ea typeface="Cambria" panose="02040503050406030204" pitchFamily="18" charset="0"/>
                <a:cs typeface="Times New Roman" panose="02020603050405020304" pitchFamily="18" charset="0"/>
              </a:rPr>
              <a:t>SDG: SDG No – SDG 4- Quality Education</a:t>
            </a:r>
            <a:endParaRPr lang="en-IN" sz="24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0E4E5ACF-77F3-539E-37A4-1E26A9DCB331}"/>
              </a:ext>
            </a:extLst>
          </p:cNvPr>
          <p:cNvSpPr>
            <a:spLocks noChangeArrowheads="1"/>
          </p:cNvSpPr>
          <p:nvPr/>
        </p:nvSpPr>
        <p:spPr bwMode="auto">
          <a:xfrm>
            <a:off x="1981200" y="1557402"/>
            <a:ext cx="14805160" cy="8102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lnSpc>
                <a:spcPct val="150000"/>
              </a:lnSpc>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A job portal is a web-based application that connects job seekers (students) with employers in a centralized platform.</a:t>
            </a:r>
          </a:p>
          <a:p>
            <a:pPr marL="342900" indent="-342900" algn="just">
              <a:lnSpc>
                <a:spcPct val="150000"/>
              </a:lnSpc>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It enables students to create profiles, upload resumes, and search for jobs based on skills, location, and experience.</a:t>
            </a:r>
          </a:p>
          <a:p>
            <a:pPr marL="342900" indent="-342900" algn="just">
              <a:lnSpc>
                <a:spcPct val="150000"/>
              </a:lnSpc>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Employers can post job openings, manage job listings, and efficiently recruit suitable candidates.</a:t>
            </a:r>
          </a:p>
          <a:p>
            <a:pPr marL="342900" indent="-342900" algn="just">
              <a:lnSpc>
                <a:spcPct val="150000"/>
              </a:lnSpc>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The system provides an organized way to apply for jobs and track application status (Applied, Shortlisted, Rejected).</a:t>
            </a:r>
          </a:p>
          <a:p>
            <a:pPr marL="342900" indent="-342900" algn="just">
              <a:lnSpc>
                <a:spcPct val="150000"/>
              </a:lnSpc>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It includes secure user authentication and role-based access for students, employers, and administrators.</a:t>
            </a:r>
          </a:p>
          <a:p>
            <a:pPr marL="342900" indent="-342900" algn="just">
              <a:lnSpc>
                <a:spcPct val="150000"/>
              </a:lnSpc>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The portal sends email notifications to users when they apply for jobs and when their application status is updated.</a:t>
            </a:r>
          </a:p>
          <a:p>
            <a:pPr marL="342900" indent="-342900" algn="just">
              <a:lnSpc>
                <a:spcPct val="150000"/>
              </a:lnSpc>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The application is developed using technologies like HTML, CSS, JavaScript, Spring Boot (or PHP), and MySQL database.</a:t>
            </a:r>
          </a:p>
          <a:p>
            <a:pPr marL="342900" indent="-342900" algn="just">
              <a:lnSpc>
                <a:spcPct val="150000"/>
              </a:lnSpc>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Overall, the system improves communication, reduces manual effort, and makes the hiring process faster and more efficient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ACDE6F8-26F3-1D41-8C6D-1EA2151C20D1}"/>
              </a:ext>
            </a:extLst>
          </p:cNvPr>
          <p:cNvSpPr>
            <a:spLocks noChangeArrowheads="1"/>
          </p:cNvSpPr>
          <p:nvPr/>
        </p:nvSpPr>
        <p:spPr bwMode="auto">
          <a:xfrm>
            <a:off x="2236501" y="2306520"/>
            <a:ext cx="15022799" cy="5185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en-US" sz="2800" dirty="0">
                <a:latin typeface="Times New Roman" panose="02020603050405020304" pitchFamily="18" charset="0"/>
                <a:cs typeface="Times New Roman" panose="02020603050405020304" pitchFamily="18" charset="0"/>
              </a:rPr>
              <a:t>The traditional job search and recruitment process is often </a:t>
            </a:r>
            <a:r>
              <a:rPr lang="en-US" sz="2800" b="1" dirty="0">
                <a:latin typeface="Times New Roman" panose="02020603050405020304" pitchFamily="18" charset="0"/>
                <a:cs typeface="Times New Roman" panose="02020603050405020304" pitchFamily="18" charset="0"/>
              </a:rPr>
              <a:t>manual, time-consuming</a:t>
            </a:r>
            <a:r>
              <a:rPr lang="en-US" sz="2800" dirty="0">
                <a:latin typeface="Times New Roman" panose="02020603050405020304" pitchFamily="18" charset="0"/>
                <a:cs typeface="Times New Roman" panose="02020603050405020304" pitchFamily="18" charset="0"/>
              </a:rPr>
              <a:t>, and unorganized. Students find it difficult to search for suitable jobs from multiple sources, while employers struggle to manage large numbers of applications efficiently. There is no centralized platform to track job applications and their status. This leads </a:t>
            </a:r>
            <a:r>
              <a:rPr lang="en-US" sz="2800" b="1" dirty="0">
                <a:latin typeface="Times New Roman" panose="02020603050405020304" pitchFamily="18" charset="0"/>
                <a:cs typeface="Times New Roman" panose="02020603050405020304" pitchFamily="18" charset="0"/>
              </a:rPr>
              <a:t>to delays, confusion, and missed opportunities </a:t>
            </a:r>
            <a:r>
              <a:rPr lang="en-US" sz="2800" dirty="0">
                <a:latin typeface="Times New Roman" panose="02020603050405020304" pitchFamily="18" charset="0"/>
                <a:cs typeface="Times New Roman" panose="02020603050405020304" pitchFamily="18" charset="0"/>
              </a:rPr>
              <a:t>for both job seekers and recruiters. Communication between students and employers is also limited and inefficient. Therefore, there is a need for a </a:t>
            </a:r>
            <a:r>
              <a:rPr lang="en-US" sz="2800" b="1" dirty="0">
                <a:latin typeface="Times New Roman" panose="02020603050405020304" pitchFamily="18" charset="0"/>
                <a:cs typeface="Times New Roman" panose="02020603050405020304" pitchFamily="18" charset="0"/>
              </a:rPr>
              <a:t>simple, centralized, and automated </a:t>
            </a:r>
            <a:r>
              <a:rPr lang="en-US" sz="2800" dirty="0">
                <a:latin typeface="Times New Roman" panose="02020603050405020304" pitchFamily="18" charset="0"/>
                <a:cs typeface="Times New Roman" panose="02020603050405020304" pitchFamily="18" charset="0"/>
              </a:rPr>
              <a:t>job portal system. This system will streamline job </a:t>
            </a:r>
            <a:r>
              <a:rPr lang="en-US" sz="2800" b="1" dirty="0">
                <a:latin typeface="Times New Roman" panose="02020603050405020304" pitchFamily="18" charset="0"/>
                <a:cs typeface="Times New Roman" panose="02020603050405020304" pitchFamily="18" charset="0"/>
              </a:rPr>
              <a:t>posting, searching, and application tracking</a:t>
            </a:r>
            <a:r>
              <a:rPr lang="en-US" sz="2800" dirty="0">
                <a:latin typeface="Times New Roman" panose="02020603050405020304" pitchFamily="18" charset="0"/>
                <a:cs typeface="Times New Roman" panose="02020603050405020304" pitchFamily="18" charset="0"/>
              </a:rPr>
              <a:t>. It will improve efficiency, accuracy, and accessibility for all users.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5" name="Rectangle 12">
            <a:extLst>
              <a:ext uri="{FF2B5EF4-FFF2-40B4-BE49-F238E27FC236}">
                <a16:creationId xmlns:a16="http://schemas.microsoft.com/office/drawing/2014/main" id="{970312DA-A438-1763-B8D8-5EBDB263373C}"/>
              </a:ext>
            </a:extLst>
          </p:cNvPr>
          <p:cNvSpPr>
            <a:spLocks noChangeArrowheads="1"/>
          </p:cNvSpPr>
          <p:nvPr/>
        </p:nvSpPr>
        <p:spPr bwMode="auto">
          <a:xfrm>
            <a:off x="2171700" y="1849644"/>
            <a:ext cx="13944600" cy="648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571500" indent="-5715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develop a </a:t>
            </a:r>
            <a:r>
              <a:rPr lang="en-US" sz="2800" b="1" dirty="0">
                <a:latin typeface="Times New Roman" panose="02020603050405020304" pitchFamily="18" charset="0"/>
                <a:cs typeface="Times New Roman" panose="02020603050405020304" pitchFamily="18" charset="0"/>
              </a:rPr>
              <a:t>web-based job portal</a:t>
            </a:r>
            <a:r>
              <a:rPr lang="en-US" sz="2800" dirty="0">
                <a:latin typeface="Times New Roman" panose="02020603050405020304" pitchFamily="18" charset="0"/>
                <a:cs typeface="Times New Roman" panose="02020603050405020304" pitchFamily="18" charset="0"/>
              </a:rPr>
              <a:t> that connects students and employers on a single platform.</a:t>
            </a:r>
          </a:p>
          <a:p>
            <a:pPr marL="571500" indent="-571500" algn="just">
              <a:lnSpc>
                <a:spcPct val="150000"/>
              </a:lnSpc>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571500" indent="-5715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enable </a:t>
            </a:r>
            <a:r>
              <a:rPr lang="en-US" sz="2800" b="1" dirty="0">
                <a:latin typeface="Times New Roman" panose="02020603050405020304" pitchFamily="18" charset="0"/>
                <a:cs typeface="Times New Roman" panose="02020603050405020304" pitchFamily="18" charset="0"/>
              </a:rPr>
              <a:t>easy job posting, searching, and online application</a:t>
            </a:r>
            <a:r>
              <a:rPr lang="en-US" sz="2800" dirty="0">
                <a:latin typeface="Times New Roman" panose="02020603050405020304" pitchFamily="18" charset="0"/>
                <a:cs typeface="Times New Roman" panose="02020603050405020304" pitchFamily="18" charset="0"/>
              </a:rPr>
              <a:t> for efficient recruitment.</a:t>
            </a:r>
          </a:p>
          <a:p>
            <a:pPr marL="571500" indent="-571500" algn="just">
              <a:lnSpc>
                <a:spcPct val="150000"/>
              </a:lnSpc>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571500" indent="-5715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provide </a:t>
            </a:r>
            <a:r>
              <a:rPr lang="en-US" sz="2800" b="1" dirty="0">
                <a:latin typeface="Times New Roman" panose="02020603050405020304" pitchFamily="18" charset="0"/>
                <a:cs typeface="Times New Roman" panose="02020603050405020304" pitchFamily="18" charset="0"/>
              </a:rPr>
              <a:t>application tracking and email notifications</a:t>
            </a:r>
            <a:r>
              <a:rPr lang="en-US" sz="2800" dirty="0">
                <a:latin typeface="Times New Roman" panose="02020603050405020304" pitchFamily="18" charset="0"/>
                <a:cs typeface="Times New Roman" panose="02020603050405020304" pitchFamily="18" charset="0"/>
              </a:rPr>
              <a:t>, improving communication and transparency.</a:t>
            </a:r>
          </a:p>
          <a:p>
            <a:pPr algn="just">
              <a:lnSpc>
                <a:spcPct val="150000"/>
              </a:lnSpc>
            </a:pPr>
            <a:br>
              <a:rPr lang="en-US" sz="2800" dirty="0"/>
            </a:br>
            <a:endParaRPr kumimoji="0" lang="en-US" altLang="en-US" sz="2800" b="0" i="0" u="none" strike="noStrike" cap="none" normalizeH="0" baseline="0" dirty="0">
              <a:ln>
                <a:noFill/>
              </a:ln>
              <a:solidFill>
                <a:schemeClr val="tx1"/>
              </a:solidFill>
              <a:effectLst/>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23FDDC7-6156-91DE-548C-D768BE697984}"/>
              </a:ext>
            </a:extLst>
          </p:cNvPr>
          <p:cNvSpPr txBox="1"/>
          <p:nvPr/>
        </p:nvSpPr>
        <p:spPr>
          <a:xfrm>
            <a:off x="2095500" y="1528006"/>
            <a:ext cx="14973300" cy="7771230"/>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The proposed system is a </a:t>
            </a:r>
            <a:r>
              <a:rPr lang="en-US" sz="2300" b="1" dirty="0">
                <a:latin typeface="Times New Roman" panose="02020603050405020304" pitchFamily="18" charset="0"/>
                <a:cs typeface="Times New Roman" panose="02020603050405020304" pitchFamily="18" charset="0"/>
              </a:rPr>
              <a:t>web-based job portal</a:t>
            </a:r>
            <a:r>
              <a:rPr lang="en-US" sz="2300" dirty="0">
                <a:latin typeface="Times New Roman" panose="02020603050405020304" pitchFamily="18" charset="0"/>
                <a:cs typeface="Times New Roman" panose="02020603050405020304" pitchFamily="18" charset="0"/>
              </a:rPr>
              <a:t> that connects students and employers through a single, centralized platform.</a:t>
            </a:r>
          </a:p>
          <a:p>
            <a:pPr marL="342900" indent="-342900">
              <a:lnSpc>
                <a:spcPct val="200000"/>
              </a:lnSpc>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It provides </a:t>
            </a:r>
            <a:r>
              <a:rPr lang="en-US" sz="2300" b="1" dirty="0">
                <a:latin typeface="Times New Roman" panose="02020603050405020304" pitchFamily="18" charset="0"/>
                <a:cs typeface="Times New Roman" panose="02020603050405020304" pitchFamily="18" charset="0"/>
              </a:rPr>
              <a:t>secure registration and login</a:t>
            </a:r>
            <a:r>
              <a:rPr lang="en-US" sz="2300" dirty="0">
                <a:latin typeface="Times New Roman" panose="02020603050405020304" pitchFamily="18" charset="0"/>
                <a:cs typeface="Times New Roman" panose="02020603050405020304" pitchFamily="18" charset="0"/>
              </a:rPr>
              <a:t> with role-based access for students, employers, and administrators.</a:t>
            </a:r>
          </a:p>
          <a:p>
            <a:pPr marL="342900" indent="-342900">
              <a:lnSpc>
                <a:spcPct val="200000"/>
              </a:lnSpc>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Employers can </a:t>
            </a:r>
            <a:r>
              <a:rPr lang="en-US" sz="2300" b="1" dirty="0">
                <a:latin typeface="Times New Roman" panose="02020603050405020304" pitchFamily="18" charset="0"/>
                <a:cs typeface="Times New Roman" panose="02020603050405020304" pitchFamily="18" charset="0"/>
              </a:rPr>
              <a:t>post, update, and manage job listings</a:t>
            </a:r>
            <a:r>
              <a:rPr lang="en-US" sz="2300" dirty="0">
                <a:latin typeface="Times New Roman" panose="02020603050405020304" pitchFamily="18" charset="0"/>
                <a:cs typeface="Times New Roman" panose="02020603050405020304" pitchFamily="18" charset="0"/>
              </a:rPr>
              <a:t>, reducing dependency on manual recruitment processes.</a:t>
            </a:r>
          </a:p>
          <a:p>
            <a:pPr marL="342900" indent="-342900">
              <a:lnSpc>
                <a:spcPct val="200000"/>
              </a:lnSpc>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Students can </a:t>
            </a:r>
            <a:r>
              <a:rPr lang="en-US" sz="2300" b="1" dirty="0">
                <a:latin typeface="Times New Roman" panose="02020603050405020304" pitchFamily="18" charset="0"/>
                <a:cs typeface="Times New Roman" panose="02020603050405020304" pitchFamily="18" charset="0"/>
              </a:rPr>
              <a:t>search, filter, and apply for jobs online</a:t>
            </a:r>
            <a:r>
              <a:rPr lang="en-US" sz="2300" dirty="0">
                <a:latin typeface="Times New Roman" panose="02020603050405020304" pitchFamily="18" charset="0"/>
                <a:cs typeface="Times New Roman" panose="02020603050405020304" pitchFamily="18" charset="0"/>
              </a:rPr>
              <a:t>, saving time and effort compared to traditional methods.</a:t>
            </a:r>
          </a:p>
          <a:p>
            <a:pPr marL="342900" indent="-342900">
              <a:lnSpc>
                <a:spcPct val="200000"/>
              </a:lnSpc>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The system includes </a:t>
            </a:r>
            <a:r>
              <a:rPr lang="en-US" sz="2300" b="1" dirty="0">
                <a:latin typeface="Times New Roman" panose="02020603050405020304" pitchFamily="18" charset="0"/>
                <a:cs typeface="Times New Roman" panose="02020603050405020304" pitchFamily="18" charset="0"/>
              </a:rPr>
              <a:t>application status tracking</a:t>
            </a:r>
            <a:r>
              <a:rPr lang="en-US" sz="2300" dirty="0">
                <a:latin typeface="Times New Roman" panose="02020603050405020304" pitchFamily="18" charset="0"/>
                <a:cs typeface="Times New Roman" panose="02020603050405020304" pitchFamily="18" charset="0"/>
              </a:rPr>
              <a:t>, allowing users to monitor progress (Applied, Shortlisted, Rejected).</a:t>
            </a:r>
          </a:p>
          <a:p>
            <a:pPr marL="342900" indent="-342900">
              <a:lnSpc>
                <a:spcPct val="200000"/>
              </a:lnSpc>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It solves existing issues by </a:t>
            </a:r>
            <a:r>
              <a:rPr lang="en-US" sz="2300" b="1" dirty="0">
                <a:latin typeface="Times New Roman" panose="02020603050405020304" pitchFamily="18" charset="0"/>
                <a:cs typeface="Times New Roman" panose="02020603050405020304" pitchFamily="18" charset="0"/>
              </a:rPr>
              <a:t>eliminating scattered job information</a:t>
            </a:r>
            <a:r>
              <a:rPr lang="en-US" sz="2300" dirty="0">
                <a:latin typeface="Times New Roman" panose="02020603050405020304" pitchFamily="18" charset="0"/>
                <a:cs typeface="Times New Roman" panose="02020603050405020304" pitchFamily="18" charset="0"/>
              </a:rPr>
              <a:t>, improving organization, and reducing delays in communication.</a:t>
            </a:r>
          </a:p>
          <a:p>
            <a:pPr marL="342900" indent="-342900">
              <a:lnSpc>
                <a:spcPct val="20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Email notifications</a:t>
            </a:r>
            <a:r>
              <a:rPr lang="en-US" sz="2300" dirty="0">
                <a:latin typeface="Times New Roman" panose="02020603050405020304" pitchFamily="18" charset="0"/>
                <a:cs typeface="Times New Roman" panose="02020603050405020304" pitchFamily="18" charset="0"/>
              </a:rPr>
              <a:t> keep users updated about job applications and status changes, ensuring timely communication.</a:t>
            </a:r>
          </a:p>
          <a:p>
            <a:pPr marL="342900" indent="-342900">
              <a:lnSpc>
                <a:spcPct val="200000"/>
              </a:lnSpc>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Compared to current systems, it offers </a:t>
            </a:r>
            <a:r>
              <a:rPr lang="en-US" sz="2300" b="1" dirty="0">
                <a:latin typeface="Times New Roman" panose="02020603050405020304" pitchFamily="18" charset="0"/>
                <a:cs typeface="Times New Roman" panose="02020603050405020304" pitchFamily="18" charset="0"/>
              </a:rPr>
              <a:t>faster processing, better accessibility, improved accuracy, and enhanced user experience</a:t>
            </a:r>
            <a:r>
              <a:rPr lang="en-US" sz="23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4" name="Picture 43">
            <a:extLst>
              <a:ext uri="{FF2B5EF4-FFF2-40B4-BE49-F238E27FC236}">
                <a16:creationId xmlns:a16="http://schemas.microsoft.com/office/drawing/2014/main" id="{EFF2ECAA-46FA-8EB0-6B86-DA32241B2060}"/>
              </a:ext>
            </a:extLst>
          </p:cNvPr>
          <p:cNvPicPr>
            <a:picLocks noChangeAspect="1"/>
          </p:cNvPicPr>
          <p:nvPr/>
        </p:nvPicPr>
        <p:blipFill>
          <a:blip r:embed="rId3"/>
          <a:stretch>
            <a:fillRect/>
          </a:stretch>
        </p:blipFill>
        <p:spPr>
          <a:xfrm>
            <a:off x="5791200" y="1961670"/>
            <a:ext cx="6172200" cy="718703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D6C9F2C-012A-CA04-AC7B-32539DB05DB0}"/>
              </a:ext>
            </a:extLst>
          </p:cNvPr>
          <p:cNvPicPr>
            <a:picLocks noChangeAspect="1"/>
          </p:cNvPicPr>
          <p:nvPr/>
        </p:nvPicPr>
        <p:blipFill>
          <a:blip r:embed="rId3"/>
          <a:stretch>
            <a:fillRect/>
          </a:stretch>
        </p:blipFill>
        <p:spPr>
          <a:xfrm>
            <a:off x="1809558" y="1810240"/>
            <a:ext cx="14630400" cy="75451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590800" y="1273710"/>
            <a:ext cx="14086282" cy="8156079"/>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Frontend:</a:t>
            </a:r>
          </a:p>
          <a:p>
            <a:pPr marL="342900" indent="-3429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HTML5</a:t>
            </a:r>
          </a:p>
          <a:p>
            <a:pPr marL="342900" indent="-3429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CSS3</a:t>
            </a:r>
          </a:p>
          <a:p>
            <a:r>
              <a:rPr lang="en-IN" sz="3200" b="1" dirty="0">
                <a:latin typeface="Times New Roman" panose="02020603050405020304" pitchFamily="18" charset="0"/>
                <a:cs typeface="Times New Roman" panose="02020603050405020304" pitchFamily="18" charset="0"/>
              </a:rPr>
              <a:t>Backend:</a:t>
            </a:r>
          </a:p>
          <a:p>
            <a:pPr marL="342900" indent="-3429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PHP (Core PHP)</a:t>
            </a:r>
          </a:p>
          <a:p>
            <a:pPr marL="342900" indent="-3429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Session Management</a:t>
            </a:r>
          </a:p>
          <a:p>
            <a:pPr marL="342900" indent="-3429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MySQL(Database Connectivity)</a:t>
            </a:r>
          </a:p>
          <a:p>
            <a:r>
              <a:rPr lang="en-IN" sz="3200" b="1" dirty="0">
                <a:latin typeface="Times New Roman" panose="02020603050405020304" pitchFamily="18" charset="0"/>
                <a:cs typeface="Times New Roman" panose="02020603050405020304" pitchFamily="18" charset="0"/>
              </a:rPr>
              <a:t>Database:</a:t>
            </a:r>
          </a:p>
          <a:p>
            <a:pPr marL="342900" indent="-3429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MySQL</a:t>
            </a:r>
          </a:p>
          <a:p>
            <a:pPr marL="342900" indent="-3429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phpMyAdmin</a:t>
            </a:r>
          </a:p>
          <a:p>
            <a:r>
              <a:rPr lang="en-IN" sz="3200" b="1" dirty="0">
                <a:latin typeface="Times New Roman" panose="02020603050405020304" pitchFamily="18" charset="0"/>
                <a:cs typeface="Times New Roman" panose="02020603050405020304" pitchFamily="18" charset="0"/>
              </a:rPr>
              <a:t>Tools:</a:t>
            </a:r>
          </a:p>
          <a:p>
            <a:pPr marL="342900" indent="-3429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XAMPP (Apache + MySQL Server)</a:t>
            </a:r>
          </a:p>
          <a:p>
            <a:pPr marL="342900" indent="-3429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Notepad</a:t>
            </a:r>
          </a:p>
          <a:p>
            <a:pPr marL="342900" indent="-3429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Web Browser (Chrome)</a:t>
            </a:r>
          </a:p>
          <a:p>
            <a:r>
              <a:rPr lang="en-IN" sz="3200" b="1" dirty="0">
                <a:latin typeface="Times New Roman" panose="02020603050405020304" pitchFamily="18" charset="0"/>
                <a:cs typeface="Times New Roman" panose="02020603050405020304" pitchFamily="18" charset="0"/>
              </a:rPr>
              <a:t> Hardware / Software Requirements:</a:t>
            </a:r>
          </a:p>
          <a:p>
            <a:pPr marL="342900" indent="-342900">
              <a:buFont typeface="Wingdings" panose="05000000000000000000" pitchFamily="2" charset="2"/>
              <a:buChar char="§"/>
            </a:pPr>
            <a:r>
              <a:rPr lang="en-IN" sz="2800" b="1" dirty="0">
                <a:latin typeface="Times New Roman" panose="02020603050405020304" pitchFamily="18" charset="0"/>
                <a:cs typeface="Times New Roman" panose="02020603050405020304" pitchFamily="18" charset="0"/>
              </a:rPr>
              <a:t>System: </a:t>
            </a:r>
            <a:r>
              <a:rPr lang="en-IN" sz="2800" dirty="0">
                <a:latin typeface="Times New Roman" panose="02020603050405020304" pitchFamily="18" charset="0"/>
                <a:cs typeface="Times New Roman" panose="02020603050405020304" pitchFamily="18" charset="0"/>
              </a:rPr>
              <a:t>Windows 10 </a:t>
            </a:r>
          </a:p>
          <a:p>
            <a:pPr marL="342900" indent="-342900">
              <a:buFont typeface="Wingdings" panose="05000000000000000000" pitchFamily="2" charset="2"/>
              <a:buChar char="§"/>
            </a:pPr>
            <a:r>
              <a:rPr lang="en-IN" sz="2800" b="1" dirty="0">
                <a:latin typeface="Times New Roman" panose="02020603050405020304" pitchFamily="18" charset="0"/>
                <a:cs typeface="Times New Roman" panose="02020603050405020304" pitchFamily="18" charset="0"/>
              </a:rPr>
              <a:t>RAM:</a:t>
            </a:r>
            <a:r>
              <a:rPr lang="en-IN" sz="2800" dirty="0">
                <a:latin typeface="Times New Roman" panose="02020603050405020304" pitchFamily="18" charset="0"/>
                <a:cs typeface="Times New Roman" panose="02020603050405020304" pitchFamily="18" charset="0"/>
              </a:rPr>
              <a:t> Minimum 4GB</a:t>
            </a:r>
          </a:p>
          <a:p>
            <a:pPr marL="342900" indent="-3429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S</a:t>
            </a:r>
            <a:r>
              <a:rPr lang="en-IN" sz="2800" b="1" dirty="0">
                <a:latin typeface="Times New Roman" panose="02020603050405020304" pitchFamily="18" charset="0"/>
                <a:cs typeface="Times New Roman" panose="02020603050405020304" pitchFamily="18" charset="0"/>
              </a:rPr>
              <a:t>oftware: </a:t>
            </a:r>
            <a:r>
              <a:rPr lang="en-IN" sz="2800" dirty="0">
                <a:latin typeface="Times New Roman" panose="02020603050405020304" pitchFamily="18" charset="0"/>
                <a:cs typeface="Times New Roman" panose="02020603050405020304" pitchFamily="18" charset="0"/>
              </a:rPr>
              <a:t>XAMPP Server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7183B5C-D3A0-0293-336F-57B9B4B70F1C}"/>
              </a:ext>
            </a:extLst>
          </p:cNvPr>
          <p:cNvSpPr txBox="1"/>
          <p:nvPr/>
        </p:nvSpPr>
        <p:spPr>
          <a:xfrm>
            <a:off x="2590800" y="1851051"/>
            <a:ext cx="13981139" cy="7478970"/>
          </a:xfrm>
          <a:prstGeom prst="rect">
            <a:avLst/>
          </a:prstGeom>
          <a:noFill/>
        </p:spPr>
        <p:txBody>
          <a:bodyPr wrap="square">
            <a:spAutoFit/>
          </a:bodyPr>
          <a:lstStyle/>
          <a:p>
            <a:r>
              <a:rPr lang="en-US" b="1" dirty="0"/>
              <a:t> </a:t>
            </a:r>
            <a:r>
              <a:rPr lang="en-US" sz="2400" b="1" dirty="0">
                <a:latin typeface="Times New Roman" panose="02020603050405020304" pitchFamily="18" charset="0"/>
                <a:cs typeface="Times New Roman" panose="02020603050405020304" pitchFamily="18" charset="0"/>
              </a:rPr>
              <a:t>Module 1: User Management</a:t>
            </a:r>
          </a:p>
          <a:p>
            <a:r>
              <a:rPr lang="en-US" sz="2400" dirty="0">
                <a:latin typeface="Times New Roman" panose="02020603050405020304" pitchFamily="18" charset="0"/>
                <a:cs typeface="Times New Roman" panose="02020603050405020304" pitchFamily="18" charset="0"/>
              </a:rPr>
              <a:t>Handles student and employer registration, login, and profile management with secure authentication.</a:t>
            </a: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Module 2: Job Management</a:t>
            </a:r>
          </a:p>
          <a:p>
            <a:r>
              <a:rPr lang="en-US" sz="2400" dirty="0">
                <a:latin typeface="Times New Roman" panose="02020603050405020304" pitchFamily="18" charset="0"/>
                <a:cs typeface="Times New Roman" panose="02020603050405020304" pitchFamily="18" charset="0"/>
              </a:rPr>
              <a:t>Allows employers to post, edit, and delete job listings, and enables students to view available jobs.</a:t>
            </a: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Module 3: Application Processing</a:t>
            </a:r>
          </a:p>
          <a:p>
            <a:r>
              <a:rPr lang="en-US" sz="2400" dirty="0">
                <a:latin typeface="Times New Roman" panose="02020603050405020304" pitchFamily="18" charset="0"/>
                <a:cs typeface="Times New Roman" panose="02020603050405020304" pitchFamily="18" charset="0"/>
              </a:rPr>
              <a:t>Manages job applications, allowing students to apply and employers to shortlist or reject candidates.</a:t>
            </a: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Module 4: Database Management</a:t>
            </a:r>
          </a:p>
          <a:p>
            <a:r>
              <a:rPr lang="en-US" sz="2400" dirty="0">
                <a:latin typeface="Times New Roman" panose="02020603050405020304" pitchFamily="18" charset="0"/>
                <a:cs typeface="Times New Roman" panose="02020603050405020304" pitchFamily="18" charset="0"/>
              </a:rPr>
              <a:t>Stores user details, job information, and application records while ensuring data integrity and retrieval.</a:t>
            </a: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Module 5: Dashboard &amp; Reporting</a:t>
            </a:r>
          </a:p>
          <a:p>
            <a:r>
              <a:rPr lang="en-US" sz="2400" dirty="0">
                <a:latin typeface="Times New Roman" panose="02020603050405020304" pitchFamily="18" charset="0"/>
                <a:cs typeface="Times New Roman" panose="02020603050405020304" pitchFamily="18" charset="0"/>
              </a:rPr>
              <a:t>Displays dashboards for students and employers, showing job activities, application status, and basic insights.</a:t>
            </a: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3A3A2164-6E50-F428-F969-EB9E3C8CC473}"/>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83228097-88DB-36DE-0511-BB1CE3A97C16}"/>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24ED2804-5F02-09CF-589C-3FF8698911D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7B362A7E-4F4C-0CDC-6C65-6A45E35E37A8}"/>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D36B5F30-7C71-F154-D925-342ABE9087D4}"/>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5DB5E500-7D9B-99A3-110A-FAC0152A103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4FCEB53-18B0-F5CE-5B8F-13A23E0337D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223F9F6C-EF75-BBB3-D5E6-1B81C417A4AD}"/>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B7FC8ECD-AF2F-C457-38E6-2B0042B9D32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7E3D3EF3-C635-7D33-83C1-899DA0ED6A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C4893F03-3473-79C8-5F47-D091D0EDDF09}"/>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997A7AD2-C495-D52F-99BA-F926D56898F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C1663826-89DF-6401-0719-47C8ADA5874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28CEC31F-F23B-4C1D-11B8-E4CE01C6CA26}"/>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5B47360-D103-5B96-A302-B8062C8F02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86B5817B-A4C2-EDC1-D17D-A1B95749BB7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215252D9-26E7-B527-AFBE-3A2E5E16C6FC}"/>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3348381-EB40-DA05-62C8-C84F7EEEE6E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2EC7BA21-9887-5376-06AE-12360EAC98A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099C6AF9-64C2-01C2-61D3-B669C51BABF0}"/>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48FEA320-02D5-414F-11D9-0D334DDCC4B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7B9FE8CA-A02C-BE28-CDB0-15B01E9EE9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415097E-3F4A-2F98-7856-B025BA39B851}"/>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ED9ACCA-B1C7-FACB-DDB1-2DC07DDB04A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02F00EDF-27B3-1240-FDCD-C17F241DAA7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C467EB7D-82D5-4F10-2564-99D7688F9332}"/>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7118AC3-A23D-4D10-A724-458863CCC90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5941FA23-29CF-0025-C65E-5BD1A047CDF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0DB7CCBA-332F-89FA-5F24-A050D1064B1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29F0E3CA-CEC1-24FE-3D25-B2F5F455563B}"/>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DE52FC25-A176-8607-B3CA-C20B930FBACC}"/>
              </a:ext>
            </a:extLst>
          </p:cNvPr>
          <p:cNvSpPr txBox="1"/>
          <p:nvPr/>
        </p:nvSpPr>
        <p:spPr>
          <a:xfrm>
            <a:off x="2642284" y="8253668"/>
            <a:ext cx="13359715" cy="1200329"/>
          </a:xfrm>
          <a:prstGeom prst="rect">
            <a:avLst/>
          </a:prstGeom>
          <a:noFill/>
        </p:spPr>
        <p:txBody>
          <a:bodyPr wrap="square">
            <a:spAutoFit/>
          </a:bodyPr>
          <a:lstStyle/>
          <a:p>
            <a:pPr>
              <a:buNone/>
            </a:pPr>
            <a:r>
              <a:rPr lang="en-US" sz="2400" dirty="0">
                <a:latin typeface="Times New Roman" panose="02020603050405020304" pitchFamily="18" charset="0"/>
                <a:cs typeface="Times New Roman" panose="02020603050405020304" pitchFamily="18" charset="0"/>
              </a:rPr>
              <a:t>This is the homepage of a job portal platform where users can connect with employers and explore career opportunities.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It provides options to sign up or log in and helps users get started with job searching or hiring.</a:t>
            </a:r>
          </a:p>
        </p:txBody>
      </p:sp>
      <p:pic>
        <p:nvPicPr>
          <p:cNvPr id="3" name="Picture 2">
            <a:extLst>
              <a:ext uri="{FF2B5EF4-FFF2-40B4-BE49-F238E27FC236}">
                <a16:creationId xmlns:a16="http://schemas.microsoft.com/office/drawing/2014/main" id="{8350635A-95CA-41CB-CA2B-3ABD80D092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9209" y="1744680"/>
            <a:ext cx="15993739" cy="5806160"/>
          </a:xfrm>
          <a:prstGeom prst="rect">
            <a:avLst/>
          </a:prstGeom>
        </p:spPr>
      </p:pic>
    </p:spTree>
    <p:extLst>
      <p:ext uri="{BB962C8B-B14F-4D97-AF65-F5344CB8AC3E}">
        <p14:creationId xmlns:p14="http://schemas.microsoft.com/office/powerpoint/2010/main" val="2009702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11DA8986-4D5A-7D1B-9831-8658A304499F}"/>
              </a:ext>
            </a:extLst>
          </p:cNvPr>
          <p:cNvSpPr txBox="1"/>
          <p:nvPr/>
        </p:nvSpPr>
        <p:spPr>
          <a:xfrm>
            <a:off x="2819400" y="7815423"/>
            <a:ext cx="13106400" cy="1384995"/>
          </a:xfrm>
          <a:prstGeom prst="rect">
            <a:avLst/>
          </a:prstGeom>
          <a:noFill/>
        </p:spPr>
        <p:txBody>
          <a:bodyPr wrap="square">
            <a:spAutoFit/>
          </a:bodyPr>
          <a:lstStyle/>
          <a:p>
            <a:pPr marL="342900" indent="-342900">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Login Page :</a:t>
            </a:r>
            <a:r>
              <a:rPr lang="en-US" sz="2800" dirty="0">
                <a:latin typeface="Times New Roman" panose="02020603050405020304" pitchFamily="18" charset="0"/>
                <a:cs typeface="Times New Roman" panose="02020603050405020304" pitchFamily="18" charset="0"/>
              </a:rPr>
              <a:t>Allows students and employers to log into the system.</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Validates user credentials and redirects to respective dashboards.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Ensures secure authentication using sessions.</a:t>
            </a:r>
            <a:endParaRPr lang="en-US"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A8319C1-B690-226D-7FF6-B4031B255611}"/>
              </a:ext>
            </a:extLst>
          </p:cNvPr>
          <p:cNvSpPr txBox="1"/>
          <p:nvPr/>
        </p:nvSpPr>
        <p:spPr>
          <a:xfrm>
            <a:off x="2294467" y="8032748"/>
            <a:ext cx="12918762" cy="1846659"/>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Student Dashboard Page</a:t>
            </a:r>
          </a:p>
          <a:p>
            <a:r>
              <a:rPr lang="en-US" sz="2400" dirty="0">
                <a:latin typeface="Times New Roman" panose="02020603050405020304" pitchFamily="18" charset="0"/>
                <a:cs typeface="Times New Roman" panose="02020603050405020304" pitchFamily="18" charset="0"/>
              </a:rPr>
              <a:t>Displays student options like jobs, applied jobs, and profile.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Provides navigation to different student functionalities.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Shows basic user information and updates.</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E85068A-179E-CCFF-28CB-BC4DA3CACB05}"/>
              </a:ext>
            </a:extLst>
          </p:cNvPr>
          <p:cNvPicPr>
            <a:picLocks noChangeAspect="1"/>
          </p:cNvPicPr>
          <p:nvPr/>
        </p:nvPicPr>
        <p:blipFill>
          <a:blip r:embed="rId3"/>
          <a:stretch>
            <a:fillRect/>
          </a:stretch>
        </p:blipFill>
        <p:spPr>
          <a:xfrm>
            <a:off x="2286000" y="1612298"/>
            <a:ext cx="12927229" cy="6382641"/>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5711558-7488-740C-0369-4A531C1FD17C}"/>
              </a:ext>
            </a:extLst>
          </p:cNvPr>
          <p:cNvSpPr txBox="1"/>
          <p:nvPr/>
        </p:nvSpPr>
        <p:spPr>
          <a:xfrm>
            <a:off x="2590800" y="6916752"/>
            <a:ext cx="10439400" cy="1815882"/>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Applied Jobs Page</a:t>
            </a:r>
          </a:p>
          <a:p>
            <a:r>
              <a:rPr lang="en-US" sz="2800" dirty="0">
                <a:latin typeface="Times New Roman" panose="02020603050405020304" pitchFamily="18" charset="0"/>
                <a:cs typeface="Times New Roman" panose="02020603050405020304" pitchFamily="18" charset="0"/>
              </a:rPr>
              <a:t>Shows jobs applied by the student.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Displays application status such as Applied, Shortlisted, or Rejected.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Helps users track their job applications.</a:t>
            </a:r>
          </a:p>
        </p:txBody>
      </p:sp>
      <p:pic>
        <p:nvPicPr>
          <p:cNvPr id="5" name="Picture 4">
            <a:extLst>
              <a:ext uri="{FF2B5EF4-FFF2-40B4-BE49-F238E27FC236}">
                <a16:creationId xmlns:a16="http://schemas.microsoft.com/office/drawing/2014/main" id="{475B6582-82F7-6A8E-9FC7-9AC1B23C5C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1554366"/>
            <a:ext cx="11811000" cy="5122789"/>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F878AD1B-8DB6-C1F2-8981-BBE38FB1F629}"/>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A175959-52F1-508E-AC36-8857867C838E}"/>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8889280E-458B-5369-AC68-6C1C812FEC0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EF3351BB-89A2-8A9D-E0A3-D9400645D5A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C38EF59D-3E9C-F4F3-79CD-5BA9295E819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A53A6E2E-0C1F-821E-5C10-14DCF865B48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5962A3F2-E2ED-A6AC-1E6F-01C49D617A2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9DF8424-4C9A-5429-CEBD-AB06614A4B93}"/>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19FAA858-3143-22F6-8CDC-69A2E37B76E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7B73DD2B-5819-0D20-B444-13E007C10A3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FB36DB29-5A75-7E75-77F2-E64A4D43461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A342BA7-CBEB-C3CD-0037-224F4AAAB55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656CBEC1-3855-2D26-3D81-78EA5A8574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2582AC1A-007D-E661-9439-0014761FB391}"/>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203C70BD-86D9-9BA5-31BF-9B6B8D5416F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4F6CBC3-B61E-229E-0A4E-2F89ADEF76D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BDB22D0-7679-73CC-0C40-3E046C67D45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1C577B4-56DB-FC94-5160-1685D64F868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6A9E6E9A-8711-5D21-606D-355F5AC202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6555ECD-702A-95FF-96C5-8D3544F9DF9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D2F36163-2B3E-3850-FA57-8E96334318B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583A7F38-E25E-D7D3-BFE3-B26F287B19B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626FF752-0110-1F8B-2229-253FE4C376E3}"/>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8BEE0126-0306-6BF3-CCB4-83FCA7748E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B9291B93-2E31-3A2C-5D45-AB3D1E2C841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1259D7D-A760-034F-E1C3-60D2DC84DADA}"/>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6C5411B-EDE9-18E4-588A-F404DFD759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7B3C1A5-95A6-E6E8-E8D2-B93DD6D52E8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E22BE37C-018F-8EEA-09CE-2533DBD41C75}"/>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D3697A14-6B9A-E5E0-BF80-62772CF8F64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C010025-A110-AA33-77D4-1132413DC19F}"/>
              </a:ext>
            </a:extLst>
          </p:cNvPr>
          <p:cNvSpPr txBox="1"/>
          <p:nvPr/>
        </p:nvSpPr>
        <p:spPr>
          <a:xfrm>
            <a:off x="2743200" y="6909363"/>
            <a:ext cx="10439400" cy="2246769"/>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Profile Page</a:t>
            </a:r>
          </a:p>
          <a:p>
            <a:r>
              <a:rPr lang="en-US" sz="2800" dirty="0">
                <a:latin typeface="Times New Roman" panose="02020603050405020304" pitchFamily="18" charset="0"/>
                <a:cs typeface="Times New Roman" panose="02020603050405020304" pitchFamily="18" charset="0"/>
              </a:rPr>
              <a:t>Displays user details like name, email, and role.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Allows users to view their personal information.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Can be extended to update profile and upload resume</a:t>
            </a:r>
          </a:p>
          <a:p>
            <a:endParaRPr lang="en-US" sz="2800" dirty="0"/>
          </a:p>
        </p:txBody>
      </p:sp>
      <p:pic>
        <p:nvPicPr>
          <p:cNvPr id="3" name="Picture 2">
            <a:extLst>
              <a:ext uri="{FF2B5EF4-FFF2-40B4-BE49-F238E27FC236}">
                <a16:creationId xmlns:a16="http://schemas.microsoft.com/office/drawing/2014/main" id="{4623C98D-E103-5303-E7CB-F41271DE5358}"/>
              </a:ext>
            </a:extLst>
          </p:cNvPr>
          <p:cNvPicPr>
            <a:picLocks noChangeAspect="1"/>
          </p:cNvPicPr>
          <p:nvPr/>
        </p:nvPicPr>
        <p:blipFill>
          <a:blip r:embed="rId3"/>
          <a:stretch>
            <a:fillRect/>
          </a:stretch>
        </p:blipFill>
        <p:spPr>
          <a:xfrm>
            <a:off x="2590800" y="2190323"/>
            <a:ext cx="10173375" cy="3672116"/>
          </a:xfrm>
          <a:prstGeom prst="rect">
            <a:avLst/>
          </a:prstGeom>
        </p:spPr>
      </p:pic>
    </p:spTree>
    <p:extLst>
      <p:ext uri="{BB962C8B-B14F-4D97-AF65-F5344CB8AC3E}">
        <p14:creationId xmlns:p14="http://schemas.microsoft.com/office/powerpoint/2010/main" val="2151105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5E19ECB-6CB9-A435-6B49-E2DA9939E248}"/>
              </a:ext>
            </a:extLst>
          </p:cNvPr>
          <p:cNvSpPr txBox="1"/>
          <p:nvPr/>
        </p:nvSpPr>
        <p:spPr>
          <a:xfrm>
            <a:off x="2590800" y="1256797"/>
            <a:ext cx="13106400" cy="8956298"/>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ADVANTAGES</a:t>
            </a:r>
          </a:p>
          <a:p>
            <a:r>
              <a:rPr lang="en-US" sz="2400" dirty="0">
                <a:latin typeface="Times New Roman" panose="02020603050405020304" pitchFamily="18" charset="0"/>
                <a:cs typeface="Times New Roman" panose="02020603050405020304" pitchFamily="18" charset="0"/>
              </a:rPr>
              <a:t>Provides a centralized platform for job seekers and employers.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Saves time and effort in job searching and recruitment.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Allows easy job application and status tracking.</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Improves communication between students and employers.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Accessible anytime through the web application.</a:t>
            </a: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LIMITATIONS</a:t>
            </a:r>
          </a:p>
          <a:p>
            <a:r>
              <a:rPr lang="en-US" sz="2400" dirty="0">
                <a:latin typeface="Times New Roman" panose="02020603050405020304" pitchFamily="18" charset="0"/>
                <a:cs typeface="Times New Roman" panose="02020603050405020304" pitchFamily="18" charset="0"/>
              </a:rPr>
              <a:t>Requires stable internet connection.</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Limited advanced features like AI-based job matching.</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Security needs improvement for real-world usage.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Not suitable for handling very large-scale users.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No real-time notifications in the current system.</a:t>
            </a: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871</TotalTime>
  <Words>1149</Words>
  <Application>Microsoft Office PowerPoint</Application>
  <PresentationFormat>Custom</PresentationFormat>
  <Paragraphs>243</Paragraphs>
  <Slides>16</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Cambria</vt:lpstr>
      <vt:lpstr>Arial</vt:lpstr>
      <vt:lpstr>Gotham Bold Italics</vt:lpstr>
      <vt:lpstr>Times New Roman</vt:lpstr>
      <vt:lpstr>Bookman Old Style</vt:lpstr>
      <vt:lpstr>Calibri</vt:lpstr>
      <vt:lpstr>Wingdings</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HP</dc:creator>
  <cp:lastModifiedBy>nanda srinivas</cp:lastModifiedBy>
  <cp:revision>32</cp:revision>
  <dcterms:created xsi:type="dcterms:W3CDTF">2006-08-16T00:00:00Z</dcterms:created>
  <dcterms:modified xsi:type="dcterms:W3CDTF">2026-05-06T04:24:22Z</dcterms:modified>
  <dc:identifier>DAHCaYqJ9OU</dc:identifier>
</cp:coreProperties>
</file>